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bab9608ad481d" /><Relationship Type="http://schemas.openxmlformats.org/officeDocument/2006/relationships/extended-properties" Target="/docProps/app.xml" Id="R809fb38f7f4f4c16" /><Relationship Type="http://schemas.openxmlformats.org/officeDocument/2006/relationships/officeDocument" Target="/ppt/presentation.xml" Id="Rb8c22a9794bf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257d41e2604de4"/>
  </p:sldMasterIdLst>
  <p:notesMasterIdLst>
    <p:notesMasterId xmlns:r="http://schemas.openxmlformats.org/officeDocument/2006/relationships" r:id="Ra43bce0e05da4928"/>
  </p:notesMasterIdLst>
  <p:sldIdLst>
    <p:sldId xmlns:r="http://schemas.openxmlformats.org/officeDocument/2006/relationships" id="256" r:id="R666d45d1679f4cac"/>
    <p:sldId xmlns:r="http://schemas.openxmlformats.org/officeDocument/2006/relationships" id="257" r:id="R6b1ee8faceeb4a26"/>
    <p:sldId xmlns:r="http://schemas.openxmlformats.org/officeDocument/2006/relationships" id="258" r:id="Rc7e84bbbea8f4cc6"/>
    <p:sldId xmlns:r="http://schemas.openxmlformats.org/officeDocument/2006/relationships" id="259" r:id="Rcd1b0c1682754c67"/>
    <p:sldId xmlns:r="http://schemas.openxmlformats.org/officeDocument/2006/relationships" id="260" r:id="R778bc57082d44cfc"/>
    <p:sldId xmlns:r="http://schemas.openxmlformats.org/officeDocument/2006/relationships" id="261" r:id="Rbf578e494bed4340"/>
    <p:sldId xmlns:r="http://schemas.openxmlformats.org/officeDocument/2006/relationships" id="262" r:id="R0be49c83464749c6"/>
    <p:sldId xmlns:r="http://schemas.openxmlformats.org/officeDocument/2006/relationships" id="263" r:id="R8ec17dac60044350"/>
    <p:sldId xmlns:r="http://schemas.openxmlformats.org/officeDocument/2006/relationships" id="264" r:id="Re64d4163e8314196"/>
    <p:sldId xmlns:r="http://schemas.openxmlformats.org/officeDocument/2006/relationships" id="265" r:id="R28dfbd4a8f4f49c5"/>
    <p:sldId xmlns:r="http://schemas.openxmlformats.org/officeDocument/2006/relationships" id="266" r:id="R3c23f0b8345242a5"/>
    <p:sldId xmlns:r="http://schemas.openxmlformats.org/officeDocument/2006/relationships" id="267" r:id="R05f4b8f5c180408f"/>
    <p:sldId xmlns:r="http://schemas.openxmlformats.org/officeDocument/2006/relationships" id="268" r:id="Rc3106e6de7a14ab4"/>
    <p:sldId xmlns:r="http://schemas.openxmlformats.org/officeDocument/2006/relationships" id="269" r:id="R3c86dee0c32f4d5f"/>
    <p:sldId xmlns:r="http://schemas.openxmlformats.org/officeDocument/2006/relationships" id="270" r:id="Rb0ccbabf34d6429e"/>
    <p:sldId xmlns:r="http://schemas.openxmlformats.org/officeDocument/2006/relationships" id="271" r:id="R568df983ef444aaa"/>
    <p:sldId xmlns:r="http://schemas.openxmlformats.org/officeDocument/2006/relationships" id="272" r:id="R38e5dd3898da408b"/>
    <p:sldId xmlns:r="http://schemas.openxmlformats.org/officeDocument/2006/relationships" id="273" r:id="R35ec55927bbc4c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e8e05140524b37" /><Relationship Type="http://schemas.openxmlformats.org/officeDocument/2006/relationships/slideMaster" Target="/ppt/slideMasters/slideMaster1.xml" Id="R68257d41e2604de4" /><Relationship Type="http://schemas.openxmlformats.org/officeDocument/2006/relationships/notesMaster" Target="/ppt/notesMasters/notesMaster1.xml" Id="Ra43bce0e05da4928" /><Relationship Type="http://schemas.openxmlformats.org/officeDocument/2006/relationships/presProps" Target="/ppt/presProps.xml" Id="Ra9099855cbbe4d0a" /><Relationship Type="http://schemas.openxmlformats.org/officeDocument/2006/relationships/tableStyles" Target="/ppt/tableStyles.xml" Id="R258d96c862214ab9" /><Relationship Type="http://schemas.openxmlformats.org/officeDocument/2006/relationships/slide" Target="/ppt/slides/slide1.xml" Id="R666d45d1679f4cac" /><Relationship Type="http://schemas.openxmlformats.org/officeDocument/2006/relationships/slide" Target="/ppt/slides/slide2.xml" Id="R6b1ee8faceeb4a26" /><Relationship Type="http://schemas.openxmlformats.org/officeDocument/2006/relationships/slide" Target="/ppt/slides/slide3.xml" Id="Rc7e84bbbea8f4cc6" /><Relationship Type="http://schemas.openxmlformats.org/officeDocument/2006/relationships/slide" Target="/ppt/slides/slide4.xml" Id="Rcd1b0c1682754c67" /><Relationship Type="http://schemas.openxmlformats.org/officeDocument/2006/relationships/slide" Target="/ppt/slides/slide5.xml" Id="R778bc57082d44cfc" /><Relationship Type="http://schemas.openxmlformats.org/officeDocument/2006/relationships/slide" Target="/ppt/slides/slide6.xml" Id="Rbf578e494bed4340" /><Relationship Type="http://schemas.openxmlformats.org/officeDocument/2006/relationships/slide" Target="/ppt/slides/slide7.xml" Id="R0be49c83464749c6" /><Relationship Type="http://schemas.openxmlformats.org/officeDocument/2006/relationships/slide" Target="/ppt/slides/slide8.xml" Id="R8ec17dac60044350" /><Relationship Type="http://schemas.openxmlformats.org/officeDocument/2006/relationships/slide" Target="/ppt/slides/slide9.xml" Id="Re64d4163e8314196" /><Relationship Type="http://schemas.openxmlformats.org/officeDocument/2006/relationships/slide" Target="/ppt/slides/slide10.xml" Id="R28dfbd4a8f4f49c5" /><Relationship Type="http://schemas.openxmlformats.org/officeDocument/2006/relationships/slide" Target="/ppt/slides/slide11.xml" Id="R3c23f0b8345242a5" /><Relationship Type="http://schemas.openxmlformats.org/officeDocument/2006/relationships/slide" Target="/ppt/slides/slide12.xml" Id="R05f4b8f5c180408f" /><Relationship Type="http://schemas.openxmlformats.org/officeDocument/2006/relationships/slide" Target="/ppt/slides/slide13.xml" Id="Rc3106e6de7a14ab4" /><Relationship Type="http://schemas.openxmlformats.org/officeDocument/2006/relationships/slide" Target="/ppt/slides/slide14.xml" Id="R3c86dee0c32f4d5f" /><Relationship Type="http://schemas.openxmlformats.org/officeDocument/2006/relationships/slide" Target="/ppt/slides/slide15.xml" Id="Rb0ccbabf34d6429e" /><Relationship Type="http://schemas.openxmlformats.org/officeDocument/2006/relationships/slide" Target="/ppt/slides/slide16.xml" Id="R568df983ef444aaa" /><Relationship Type="http://schemas.openxmlformats.org/officeDocument/2006/relationships/slide" Target="/ppt/slides/slide17.xml" Id="R38e5dd3898da408b" /><Relationship Type="http://schemas.openxmlformats.org/officeDocument/2006/relationships/slide" Target="/ppt/slides/slide18.xml" Id="R35ec55927bbc4c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ebd78abbce4a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7057a9d174d97" /><Relationship Type="http://schemas.openxmlformats.org/officeDocument/2006/relationships/notesMaster" Target="/ppt/notesMasters/notesMaster1.xml" Id="R42f7d3f658a442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5daf276fc74f7a" /><Relationship Type="http://schemas.openxmlformats.org/officeDocument/2006/relationships/notesMaster" Target="/ppt/notesMasters/notesMaster1.xml" Id="R8676ed13436a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5457cdc2c345b0" /><Relationship Type="http://schemas.openxmlformats.org/officeDocument/2006/relationships/notesMaster" Target="/ppt/notesMasters/notesMaster1.xml" Id="R3c769ab1933046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0c84009bf4030" /><Relationship Type="http://schemas.openxmlformats.org/officeDocument/2006/relationships/notesMaster" Target="/ppt/notesMasters/notesMaster1.xml" Id="R29d08252133f4b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8a7803042e4227" /><Relationship Type="http://schemas.openxmlformats.org/officeDocument/2006/relationships/notesMaster" Target="/ppt/notesMasters/notesMaster1.xml" Id="R4f2862b68f0448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d3cd266e394c5f" /><Relationship Type="http://schemas.openxmlformats.org/officeDocument/2006/relationships/notesMaster" Target="/ppt/notesMasters/notesMaster1.xml" Id="Rc3e491955c4547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8299594ada487e" /><Relationship Type="http://schemas.openxmlformats.org/officeDocument/2006/relationships/notesMaster" Target="/ppt/notesMasters/notesMaster1.xml" Id="Rf8f58551d55847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93954b113420b" /><Relationship Type="http://schemas.openxmlformats.org/officeDocument/2006/relationships/notesMaster" Target="/ppt/notesMasters/notesMaster1.xml" Id="R4fea1a9ce07841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a13a26e3a141e2" /><Relationship Type="http://schemas.openxmlformats.org/officeDocument/2006/relationships/notesMaster" Target="/ppt/notesMasters/notesMaster1.xml" Id="R4fd1f494b41a47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3b60bcec394f40" /><Relationship Type="http://schemas.openxmlformats.org/officeDocument/2006/relationships/notesMaster" Target="/ppt/notesMasters/notesMaster1.xml" Id="R9d51ea9fce7546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5b40396d0e4d88" /><Relationship Type="http://schemas.openxmlformats.org/officeDocument/2006/relationships/notesMaster" Target="/ppt/notesMasters/notesMaster1.xml" Id="R8f3006a2cf524a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6ef7ab462b46c9" /><Relationship Type="http://schemas.openxmlformats.org/officeDocument/2006/relationships/notesMaster" Target="/ppt/notesMasters/notesMaster1.xml" Id="R6704e60f3bf348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f6c1b62fc04ad7" /><Relationship Type="http://schemas.openxmlformats.org/officeDocument/2006/relationships/notesMaster" Target="/ppt/notesMasters/notesMaster1.xml" Id="R93a4255ddfde44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f6b4b243a947b7" /><Relationship Type="http://schemas.openxmlformats.org/officeDocument/2006/relationships/notesMaster" Target="/ppt/notesMasters/notesMaster1.xml" Id="Rf4f2ff61a77c4f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dc89e99d824e6c" /><Relationship Type="http://schemas.openxmlformats.org/officeDocument/2006/relationships/notesMaster" Target="/ppt/notesMasters/notesMaster1.xml" Id="R9046cdb5d89d41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778e28182a4a47" /><Relationship Type="http://schemas.openxmlformats.org/officeDocument/2006/relationships/notesMaster" Target="/ppt/notesMasters/notesMaster1.xml" Id="R1109fc2331054b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27626282924afd" /><Relationship Type="http://schemas.openxmlformats.org/officeDocument/2006/relationships/notesMaster" Target="/ppt/notesMasters/notesMaster1.xml" Id="R53fe2361fe0c48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89a03ac5f84b27" /><Relationship Type="http://schemas.openxmlformats.org/officeDocument/2006/relationships/notesMaster" Target="/ppt/notesMasters/notesMaster1.xml" Id="R21e2a48d7ba648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제출자: 광주 5반 임나경. 2026-10-22. 명세서 16-C-2-01, 02, 03의 필수 기능을 순서대로 구현·검증한 결과. Ballie 및 SmartThings는 참고 콘셉트다. 실제 로봇·가전은 연결하지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Samsung 2025-04-09 Ballie announcement https://news.samsung.com/us/samsung-google-cloud-expand-partnership-bring-gemini-ballie-home-ai-companion-robot-by-samsung/ ; SmartThings device model https://developer.smartthings.com/docs/service-integrations/query-and-list-devices . Historical concept, not a claim of current Ballie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https://docs.ultralytics.com/models/yolo11/ ; https://docs.ultralytics.com/models/yolov8/ ; https://www.ultralytics.com/license ; https://huggingface.co/ggml-org/Qwen2.5-VL-3B-Instruct-GGUF ; https://huggingface.co/Qwen/Qwen2.5-VL-7B-Instruct . Official detector numbers refer to 640px COCO/CPU ONNX. Alternative VLM 7B was not measured locally. YOLO license reference AGPL-3.0 or Enterprise; GGUF model card Apache-2.0.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datasets/roboflow/furniture/v2_curated_v2/derivation.json and results/furniture_day1/data_audit/independent_verification.json. All 689 thumbnails reviewed, 125 originals additionally reviewed. Assistant visual screening is not exhaustive ground-truth certification. Raw source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results/spec_workflow_20261022/spec1/finetune_compare.csv and *_metrics.json. 10 epochs, imgsz320, batch8, CPU. Same85 valid images, same custom evaluator and confidence/IoU settings. COCO chair56,couch57,dining table60 mapped to Furniture0,1,2. Broad Table and dining table are not identical semantic coverage. P/R are macro averages at conf.25 and IoU.5, mAP uses confidence floor.001. This is a small curated mainly-single-object dataset, not production room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results/furniture_final_test_20261022/comparison.json, evaluation_lock.json, valid_vs_test.csv. imgsz320, conf floor.001, NMS IoU.7, CPU. P/R are macro at conf.25 and matching IoU.5. Valid reproduces original within1e-8. Test now consumed, never used for tuning. Frozen best.pt SHA256 recorded. Small curated single-object images; 100% P/R is not deployment perfection. Native AP interpolation can give .995 despite perfect operating-point matches.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results/furniture_final_test_20261022/localization_analysis.json and localization_examples.jpg. Lowest IoU per class, not cherry-picked failures. Green GT/red prediction. At conf.25, TP87 at IoU.75, TP73 at.9, TP38 at.95. Table test mAP50–95 .8290714 vs valid .9213572. Annotation boundary conventions also affect this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results/spec_workflow_20261022/spec1/poc_timing.csv and measurement.csv. One warm-up pair excluded, one sequential/parallel pair on same sofa JPEG. VLM max-side448,max_tokens80. This small timing sample does not support a statistically significant speedup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results/spec_workflow_20261022/spec1/vlm_prompt_comparison.json and vlm_measurement.csv. All four prompts same448px input, temperature0,max_tokens96. Free output hits token limit; counting repeats objects/mixes scripts; obstacle-only request echoes instruction. Regulated runs use main.py contract and both equal. Obstacle text is model output, not an independently verified safety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results/optimization_20261022/before.json, after_uncached.json, after_cached.json, comparison.json. Warm same-table API 3 trials per condition. No cache median9.7052→7.2724s. Simple full-match scene questions bypass discarded LLM generation; moves/complex prompts keep LLM/rules. Repeated exact-input cache hits .0395/.0473s are reuse, not faster new-frame inference. Max8/TTL60s. UI550ms waits removed. These experiments are distinct from later six-image VLM study; do not compound gains.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results/vlm_settings_20261022/{screen,refine,confirm,confirm40,policy_validation,comparison,deployment_verification}.json. 60 measured inference trials on6 valid images; model warmup excluded, result cache bypassed and model.reset per trial. Params224/336/392/420/448 and40/60tokens. Manual source-image/text checks beyond class keywords. Adaptive performs extra live YOLO selection, whose time is included. All high confidence&gt;=.8 Chair/Sofa/couch -&gt;420; others448. Six-image paired average6.22276→5.39286 (-13.34%). Not a general quality guarantee; baseline desk unclear word persists.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results/furniture_dashboard_20261022/validation.json and results/vlm_settings_20261022/browser/validation.json. Latest real Edge screenshot with Furniture best.pt. All3 images passed HTTP/shared-frame/forwarding checks. Table has overlapping Sofa/Table raw detections, handled as ambiguity by F206. Simple scene questions take deterministic cited-response fast path rather than generating and discarding LLM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results/f206_20261022/comparison.json and after/validation.json; latest browser/Table.png confirms retained behavior. Same weights/input/raw predictions/VLM description. Sofa confidence.676 vs Table.526, cross-class IoU.9369. No winning class selected by confidence. Count mismatch only for explicit supported numeric patterns; non-mentioned VLM count is unknown, not zero. Both source blocks enforced in describe responses. F2065tests, later optimization8tests and deployment10checks.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results/spec_workflow_20261022/spec2/gesture_validation.json. Supplied pointing_up/victory images at0,90,180,270 degrees, each with mirror false/true. 16 direction and16 finger count assertions pass,21landmarks observed. Not three personal live-capture images required by optional F205.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API_설계.md, main.py, scripts/spec3_rules_validate.py, results/spec_workflow_20261022/spec3/rule_regressions.json. Final API suite64/64.17 regression assertions verify R5 with all valid LLM tool choices, new scene questions remain describe, false direction words, overflow-safe steps, malformed JSON and preserving obstacle suffix.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results/spec_workflow_20261022/spec3/browser_validation.json and simulator.png. Actual Edge run: ask remembers2 steps, direction-only reply invokes move; wall/boundary result independently computed from observed DOM wall map and compared to actual position. Grid movement is not physical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actual captured JPEG requests plus spec3/browser_validation.json, dataset split_manifest.json and spec1 CSV/JSON files. Workflow event records are derived from actual browser exchanges. A database or production streaming platform has not been deployed.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scope: F206 overlap/count mismatch/source attribution implemented with bounded class/count patterns; F106 controlled resolution/token experiments complete on static images. Camera collection F105, personal captures F205 and live gesture sequence F305 remain unverified/partial. SmartThings is future work; no real device control. Existing completion.json is historical; current status is in latest_submission_status.json.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96afaff0f4c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d40d1690344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8d4faf18648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232b429b34b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c343c372c4c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89fa91b66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52CA36-66D8-4869-BB40-7426AE1DE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91477B-E94C-42E5-B970-7ACE770268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64E02F-56D1-4EE0-98CC-BB47E34FE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53AFC4-5A26-4D43-BA2A-1685EE7A0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0C29DB-978C-4A43-97F9-6B111DA8FB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7FFD6D-3C3C-491D-87B7-4CFF4ACF1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EB0FB-F0B5-43E6-9C51-852E7C334F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3AC0C5-EA59-44DC-BBD1-2268ED986F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5E236D-4A2E-4DDA-B652-EC066ECC6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1FE0F5-75E1-49DC-AD63-9193BF3953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9645a8bbef44d9" /><Relationship Type="http://schemas.openxmlformats.org/officeDocument/2006/relationships/slideLayout" Target="/ppt/slideLayouts/slideLayout1.xml" Id="R197316a48202452e" /><Relationship Type="http://schemas.openxmlformats.org/officeDocument/2006/relationships/slideLayout" Target="/ppt/slideLayouts/slideLayout2.xml" Id="Ra4d1befd165e4b85" /><Relationship Type="http://schemas.openxmlformats.org/officeDocument/2006/relationships/slideLayout" Target="/ppt/slideLayouts/slideLayout3.xml" Id="R45202dd7123a4f2b" /><Relationship Type="http://schemas.openxmlformats.org/officeDocument/2006/relationships/slideLayout" Target="/ppt/slideLayouts/slideLayout4.xml" Id="R47d608a3443b4c97" /><Relationship Type="http://schemas.openxmlformats.org/officeDocument/2006/relationships/slideLayout" Target="/ppt/slideLayouts/slideLayout5.xml" Id="R0bcadc9d1a314af0" /><Relationship Type="http://schemas.openxmlformats.org/officeDocument/2006/relationships/slideLayout" Target="/ppt/slideLayouts/slideLayout6.xml" Id="Ra1c596e268b04c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316a48202452e"/>
    <p:sldLayoutId xmlns:r="http://schemas.openxmlformats.org/officeDocument/2006/relationships" id="2147483650" r:id="Ra4d1befd165e4b85"/>
    <p:sldLayoutId xmlns:r="http://schemas.openxmlformats.org/officeDocument/2006/relationships" id="2147483651" r:id="R45202dd7123a4f2b"/>
    <p:sldLayoutId xmlns:r="http://schemas.openxmlformats.org/officeDocument/2006/relationships" id="2147483652" r:id="R47d608a3443b4c97"/>
    <p:sldLayoutId xmlns:r="http://schemas.openxmlformats.org/officeDocument/2006/relationships" id="2147483653" r:id="R0bcadc9d1a314af0"/>
    <p:sldLayoutId xmlns:r="http://schemas.openxmlformats.org/officeDocument/2006/relationships" id="2147483654" r:id="Ra1c596e268b04c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8f8b7ea4e4818" /><Relationship Type="http://schemas.openxmlformats.org/officeDocument/2006/relationships/notesSlide" Target="/ppt/notesSlides/notesSlide1.xml" Id="R946e82b79a1a4b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d5a5183764e32" /><Relationship Type="http://schemas.openxmlformats.org/officeDocument/2006/relationships/notesSlide" Target="/ppt/notesSlides/notesSlide2.xml" Id="Rfb15d6b97082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ae3aa6a02474e" /><Relationship Type="http://schemas.openxmlformats.org/officeDocument/2006/relationships/notesSlide" Target="/ppt/notesSlides/notesSlide3.xml" Id="Rb79161f367c7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de10949b4495d" /><Relationship Type="http://schemas.openxmlformats.org/officeDocument/2006/relationships/notesSlide" Target="/ppt/notesSlides/notesSlide4.xml" Id="R24403c18a4e84f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5c8e90a100407a" /><Relationship Type="http://schemas.openxmlformats.org/officeDocument/2006/relationships/notesSlide" Target="/ppt/notesSlides/notesSlide5.xml" Id="Ra5397fe396b043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c453461224f2c" /><Relationship Type="http://schemas.openxmlformats.org/officeDocument/2006/relationships/notesSlide" Target="/ppt/notesSlides/notesSlide6.xml" Id="R6c1adf3a89b944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0045180084039" /><Relationship Type="http://schemas.openxmlformats.org/officeDocument/2006/relationships/image" Target="/ppt/media/image.jpeg" Id="Rd8449b34625a4d21" /><Relationship Type="http://schemas.openxmlformats.org/officeDocument/2006/relationships/notesSlide" Target="/ppt/notesSlides/notesSlide7.xml" Id="R776e25fcadd247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6c54469864608" /><Relationship Type="http://schemas.openxmlformats.org/officeDocument/2006/relationships/image" Target="/ppt/media/image2.jpeg" Id="R66f7669b957841fe" /><Relationship Type="http://schemas.openxmlformats.org/officeDocument/2006/relationships/notesSlide" Target="/ppt/notesSlides/notesSlide8.xml" Id="Rd1c77ae07cc942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bbd9e662f45e2" /><Relationship Type="http://schemas.openxmlformats.org/officeDocument/2006/relationships/notesSlide" Target="/ppt/notesSlides/notesSlide9.xml" Id="R6336256c886844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c653a2437403b" /><Relationship Type="http://schemas.openxmlformats.org/officeDocument/2006/relationships/notesSlide" Target="/ppt/notesSlides/notesSlide10.xml" Id="Rb580e33e2b3f4c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61fc3ed084c4f" /><Relationship Type="http://schemas.openxmlformats.org/officeDocument/2006/relationships/notesSlide" Target="/ppt/notesSlides/notesSlide11.xml" Id="R5ec6b9921a4841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37f24fe044ecc" /><Relationship Type="http://schemas.openxmlformats.org/officeDocument/2006/relationships/image" Target="/ppt/media/image.png" Id="R29e31cdd8eda4eea" /><Relationship Type="http://schemas.openxmlformats.org/officeDocument/2006/relationships/notesSlide" Target="/ppt/notesSlides/notesSlide12.xml" Id="R183915ed6a9c47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d652d5d294e9d" /><Relationship Type="http://schemas.openxmlformats.org/officeDocument/2006/relationships/notesSlide" Target="/ppt/notesSlides/notesSlide13.xml" Id="R31b2f9bdeb0d49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59590a5f84ba2" /><Relationship Type="http://schemas.openxmlformats.org/officeDocument/2006/relationships/image" Target="/ppt/media/image2.png" Id="R3922879dbe0540af" /><Relationship Type="http://schemas.openxmlformats.org/officeDocument/2006/relationships/notesSlide" Target="/ppt/notesSlides/notesSlide14.xml" Id="Rf360b33e9b2846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1170449e34b25" /><Relationship Type="http://schemas.openxmlformats.org/officeDocument/2006/relationships/notesSlide" Target="/ppt/notesSlides/notesSlide15.xml" Id="Rf0700efdb2b346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802db574c42b0" /><Relationship Type="http://schemas.openxmlformats.org/officeDocument/2006/relationships/image" Target="/ppt/media/image3.png" Id="Refdb5e5e94f243c1" /><Relationship Type="http://schemas.openxmlformats.org/officeDocument/2006/relationships/notesSlide" Target="/ppt/notesSlides/notesSlide16.xml" Id="Ree93b66804344e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c85333aed4415" /><Relationship Type="http://schemas.openxmlformats.org/officeDocument/2006/relationships/notesSlide" Target="/ppt/notesSlides/notesSlide17.xml" Id="R86bbe153f6654f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32b7d5c7f4c11" /><Relationship Type="http://schemas.openxmlformats.org/officeDocument/2006/relationships/notesSlide" Target="/ppt/notesSlides/notesSlide18.xml" Id="R6d4c6b4a1705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6B839-D5FD-4BF3-976B-3F15CE84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FD25E-35B3-4022-A37D-C42DD5D3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8AB95-C4A9-438A-8FF8-1CD35AF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가정용 집사 로봇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51F76-DF35-4D2A-BB9E-A9E7FDA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멀티모달 AI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8B6A4-6E43-4C0C-8EEE-F63EC5C7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Furniture 인식 · 장면 설명 · 의도 파악과 이동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865EC-FC48-44FF-A8F4-0F8F1D6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명세서 1 · 2 · 3 수행 결과 · 최신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BF77F-E9D7-4E54-9B6B-FEC77DF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광주 5반 임나경</a:t>
            </a:r>
          </a:p>
          <a:p xmlns:a="http://schemas.openxmlformats.org/drawingml/2006/main">
            <a:pPr>
              <a:buNone/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2026.10.22</a:t>
            </a:r>
          </a:p>
        </p:txBody>
      </p:sp>
    </p:spTree>
    <p:extLst>
      <p:ext uri="{BB962C8B-B14F-4D97-AF65-F5344CB8AC3E}">
        <p14:creationId xmlns:p14="http://schemas.microsoft.com/office/powerpoint/2010/main" val="823818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8F474-6315-43ED-BD1F-304FEB3E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집사형 로봇의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D64ED-DD50-45A7-9575-3F63724B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5B718-03CB-4E5D-B6FA-AEC4135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집 안의 상황을 보고 사용자의 요청에 답하는 로봇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6C702-0AD9-4699-818A-99B6CC02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인식</a:t>
            </a:r>
          </a:p>
          <a:p xmlns:a="http://schemas.openxmlformats.org/drawingml/2006/main">
            <a: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YOLO가 가구를 검출하고 VLM이 거실의 맥락을 설명합니다.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4A95D-901A-4343-B431-27ABE69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의도와 동작</a:t>
            </a:r>
          </a:p>
          <a:p xmlns:a="http://schemas.openxmlformats.org/drawingml/2006/main">
            <a: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단순 장면 질문은 근거로 답하고, 이동·복합 질문은 LLM과 규칙으로 처리합니다.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2CA77-0FC8-49F0-8421-C3FEBE7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가전 연동 확장</a:t>
            </a:r>
          </a:p>
          <a:p xmlns:a="http://schemas.openxmlformats.org/drawingml/2006/main">
            <a:pPr>
              <a:buNone/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SmartThings 상태 조회와 명령 API는 후속 연동 대상으로 설계합니다.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2B36E-6EF3-4EBB-8F18-CDC937B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현재 동작 범위는 로컬 이미지와 격자 시뮬레이터입니다.</a:t>
            </a:r>
          </a:p>
        </p:txBody>
      </p:sp>
    </p:spTree>
    <p:extLst>
      <p:ext uri="{BB962C8B-B14F-4D97-AF65-F5344CB8AC3E}">
        <p14:creationId xmlns:p14="http://schemas.microsoft.com/office/powerpoint/2010/main" val="1780857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23527-E5BE-41A4-8A20-C5288B7A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모델 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D8793-9D77-4978-BC6F-9653D12D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F4A1B-411E-40F9-83F9-6584AC4A7CE6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952750"/>
                <a:gridCol w="2724150"/>
              </a:tblGrid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검출 후보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COCO mAP50–95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CPU ONNX 참고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YOLOv8n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80.4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YOLO11n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56.1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YOLO11s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9.4M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90.0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D2344-DACF-4ED1-91C6-0BC552CC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YOLO11n: 작은 모델로 CPU 추론과 전이학습을 함께 수행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0D251-EB78-4907-AFF8-A30225E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VLM: Qwen2.5-VL-3B Q4_K_M + mmproj</a:t>
            </a:r>
          </a:p>
          <a:p xmlns:a="http://schemas.openxmlformats.org/drawingml/2006/main">
            <a: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3B를 CPU에서 검증했고, 7B는 로컬 미측정 후보로 남겼습니다.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78800-BB1B-449F-AB72-8614DCD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공식 참고 수치와 이 PC의 실측 속도는 측정 방식이 달라 직접 비교하지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55649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C7B6C-DD3D-4B93-AA7D-9718C195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Furniture 데이터 정비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9F729-54D8-46A3-809B-F353316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E2EC9-129D-48C0-B165-160174D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689장 중 565장 채택, 124장 추가 검수 대기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1F4F1-EDB1-401F-A524-5C7D762C89EE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00250"/>
                <a:gridCol w="2000250"/>
                <a:gridCol w="2000250"/>
                <a:gridCol w="2152650"/>
              </a:tblGrid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Chair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valid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8A5DD-85BF-40C6-B577-5D5AF5EF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같은 가구·촬영 공간을 한 분할에 묶고 seed 20261021로 고정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AC9EF-A08C-493F-921B-A17AF7C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원본·고정 분할 보존 · test 87장은 최종 평가에만 사용 · test 기반 튜닝 없음</a:t>
            </a:r>
          </a:p>
        </p:txBody>
      </p:sp>
    </p:spTree>
    <p:extLst>
      <p:ext uri="{BB962C8B-B14F-4D97-AF65-F5344CB8AC3E}">
        <p14:creationId xmlns:p14="http://schemas.microsoft.com/office/powerpoint/2010/main" val="1773834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B9A20-2CD4-40A1-9CE1-6F5882E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파인튜닝 전후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D8E4B-8DD7-48DC-B5A0-E16E402A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360A4-D519-4600-A022-1B4CB37DD266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933700"/>
                <a:gridCol w="2933700"/>
              </a:tblGrid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valid 85장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COCO 대응 모델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Furniture 10 epoch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mAP50–95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 (conf 0.25)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 (conf 0.25)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98.8%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3A338-E4F6-4080-BA84-BB40775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Chair·Sofa·Table로 클래스 번호를 명시적으로 대응시켜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C7F61-039A-4F7F-880F-42342222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선별된 단일 가구 사진의 검증 성능입니다. 복잡한 실내 장면과 실물 운용은 별도 검증이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954475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31F88-AB77-4543-89B8-A780827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최종 test 87장 평가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61207-BC63-4C75-879C-30FBD5C70711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933700"/>
                <a:gridCol w="2933700"/>
              </a:tblGrid>
              <a:tr h="647700"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valid 85장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87장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4770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97.96%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99.50%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mAP50–95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90.55%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89.50%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4770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95.34%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98.77%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CE388-17AD-4BE8-BD03-7FCC1350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conf 0.25 · IoU 0.5에서 TP 87 / FP 0 / FN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62EF4-52EF-4EE1-A110-6FEE89B4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가중치·평가 설정 고정 · valid 재현 확인 · test로 추가 학습·임계값 조정하지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C971E-ECDE-4639-ABB9-BC58BCA0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8187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08677-E2AB-458E-B23F-CCED28D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박스 경계 정밀도와 해석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0ECE0-9A84-4C4D-9793-59873003A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49b34625a4d21"/>
          <a:stretch xmlns:a="http://schemas.openxmlformats.org/drawingml/2006/main"/>
        </p:blipFill>
        <p:spPr>
          <a:xfrm xmlns:a="http://schemas.openxmlformats.org/drawingml/2006/main">
            <a:off x="1095375" y="1381125"/>
            <a:ext cx="10001250" cy="36671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9CAE4-305B-4DE5-A91A-59FA80D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test mAP50–95: 의자 94.06% · 소파 91.53% · 테이블 82.91%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0F9AF-8843-434D-8036-9D912153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초록: 주석 / 빨강: 예측 · 종류·개수 검출과 정밀한 박스 경계 일치는 별도 평가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29F69-94C3-44BA-A2EC-2CB1ADAC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8487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F29D2-2379-4298-B290-34D0408C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초기 PoC 응답 시간과 병목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1E325-5929-46EA-A58F-E639A00D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BE3F6-76E8-4E18-993B-9251C0089E26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619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476500"/>
              </a:tblGrid>
              <a:tr h="730250">
                <a:tc>
                  <a:txBody>
                    <a:bodyPr lIns="133350" tIns="76200" rIns="114300" bIns="7620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 방식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시간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730250"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6.61초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6.57초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44369-764B-4EB9-B303-3F53981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VLM이 전체 응답 시간의 대부분을 차지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7EA9-C86D-468A-B6B0-C6221DD9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입력 긴 변 448px</a:t>
            </a:r>
          </a:p>
          <a:p xmlns:a="http://schemas.openxmlformats.org/drawingml/2006/main">
            <a: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출력 80 tokens 상한</a:t>
            </a:r>
          </a:p>
          <a:p xmlns:a="http://schemas.openxmlformats.org/drawingml/2006/main">
            <a: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워밍업 후 같은 이미지로 측정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7E2F8-DE75-499E-91D8-4B34904F39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7669b957841fe"/>
          <a:stretch xmlns:a="http://schemas.openxmlformats.org/drawingml/2006/main"/>
        </p:blipFill>
        <p:spPr>
          <a:xfrm xmlns:a="http://schemas.openxmlformats.org/drawingml/2006/main">
            <a:off x="6858000" y="1571625"/>
            <a:ext cx="447675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29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237D4-DBE2-4166-9FB5-3908B128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초기 VLM 프롬프트와 출력 규격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C1528-0DA7-439E-92CB-64ADDB5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278D8-F8FC-45B5-9796-83CC3FA321C2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000250"/>
                <a:gridCol w="5391150"/>
              </a:tblGrid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프롬프트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실측 시간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자유 설명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14.87초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 tokens에서 잘림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간결 설명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6.05초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장면을 한국어로 설명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개수 나열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6.04초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나열·한자 혼용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장애물만 질문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5.20초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질문을 되풀이함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E20EE-B6BA-4ED4-8C45-F815407A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규격 출력은 한국어 40자 이내와 장애물 표기를 검사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4B9C8-7806-45E5-A506-DE8521F8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거실에 흰색 패턴이 있는 소파가 놓여 있다, 장애물 없음.</a:t>
            </a:r>
          </a:p>
        </p:txBody>
      </p:sp>
    </p:spTree>
    <p:extLst>
      <p:ext uri="{BB962C8B-B14F-4D97-AF65-F5344CB8AC3E}">
        <p14:creationId xmlns:p14="http://schemas.microsoft.com/office/powerpoint/2010/main" val="2019110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98919-5FD2-4B2A-B803-C5DC8C04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사용하지 않는 생성과 대기 제거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E8157-54B7-4294-9763-3494E7964157}"/>
              </a:ext>
            </a:extLst>
          </p:cNvPr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933700"/>
                <a:gridCol w="2933700"/>
              </a:tblGrid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API 중앙값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0.050초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0.046초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VLM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7.082초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7.270초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구성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2.623초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0.002초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(캐시 제외)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9.705초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7.272초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4CE20-08AC-472A-AF23-92A1F07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약 25% 단축 · 이동·복합 질문의 LLM 경로는 유지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C8EBF-67D2-4C67-BD87-80F75075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동일 이미지 캐시 적중은 0.04~0.05초 · 새 이미지 성능과 구분 · 화면 강제 대기도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B5931-B66B-46DC-A2C7-3C7E08F7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6644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9BF32-DAAF-49C4-A8B4-702FEB4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새 이미지의 VLM 추론 최적화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C58BE-B9DE-4504-BB38-AB3B27A277E2}"/>
              </a:ext>
            </a:extLst>
          </p:cNvPr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391400"/>
              </a:tblGrid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224·336·392px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배경·물체 설명 오류로 기본 설정 제외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420px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고확신 의자·소파에 적용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테이블·혼동·미검출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448px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 / 60 tokens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40의 이득 작음 → 60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8BB51-F493-4FFD-A73B-1354421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캐시 없는 6장 평균 6.22초 → 5.39초 (약 13% 단축)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8254-17A9-40A3-8AE6-AE201A9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작은 정지 이미지 실험의 결과 · 첫 모델 로딩 제외 · 모든 이미지의 품질을 보장하지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4058D-EDF6-4C7C-B739-4E2ABF3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7088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4C31-B8FF-4E63-86C8-B0F2AC6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Furniture 모델의 대시보드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09744-D281-4C20-A4BF-A72C197A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C01EC-FA5A-43DD-87C7-37C7681A6C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31cdd8eda4eea"/>
          <a:stretch xmlns:a="http://schemas.openxmlformats.org/drawingml/2006/main"/>
        </p:blipFill>
        <p:spPr>
          <a:xfrm xmlns:a="http://schemas.openxmlformats.org/drawingml/2006/main">
            <a:off x="2667000" y="1285875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AA829-F5C1-4DC2-A522-9BD62EE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best.pt 연결 · 소파·의자·테이블 3종 검증 · YOLO/VLM 근거를 최종 답변에 전달</a:t>
            </a:r>
          </a:p>
        </p:txBody>
      </p:sp>
    </p:spTree>
    <p:extLst>
      <p:ext uri="{BB962C8B-B14F-4D97-AF65-F5344CB8AC3E}">
        <p14:creationId xmlns:p14="http://schemas.microsoft.com/office/powerpoint/2010/main" val="6759274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00383-11B3-499F-BB6A-D87D00D4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F206: 불일치를 확정된 사실로 답하지 않기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F52A3-1D48-4B82-A660-03B7A7FE85B0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43375"/>
                <a:gridCol w="4295775"/>
              </a:tblGrid>
              <a:tr h="678656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78656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 검출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Sofa 67.6% + Table 52.6%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검출 보존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입력 개수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Sofa 1개, Table 1개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후보 · 종류·개수 미확정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78656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안내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소파 1개, 테이블 1개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 인용 · 불일치 · 재확인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07329-5AB4-4F5C-A90D-D432C148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박스 IoU 0.9369: 겹치는 후보를 별개 물체로 합산하지 않음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E6E53-3AE4-41CA-9B3D-8FB54D7E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명시 개수 차이도 검사 · VLM 미언급은 미상 · 오검출 자체를 고친 것으로 해석하지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1B9AA-246A-4C54-8094-9A5B8DE7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29944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00064-698B-457F-83C9-2060D42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손 방향과 손가락 개수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A7A71-5019-4811-B734-A6C1264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5BC9D-4448-4BB6-ACFE-869CA021AF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2879dbe0540af"/>
          <a:stretch xmlns:a="http://schemas.openxmlformats.org/drawingml/2006/main"/>
        </p:blipFill>
        <p:spPr>
          <a:xfrm xmlns:a="http://schemas.openxmlformats.org/drawingml/2006/main">
            <a:off x="685800" y="1457325"/>
            <a:ext cx="10820400" cy="27051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CF58C-992E-4AA4-948C-4287758EC835}"/>
              </a:ext>
            </a:extLst>
          </p:cNvPr>
          <p:cNvGraphicFramePr/>
          <p:nvPr/>
        </p:nvGraphicFramePr>
        <p:xfrm>
          <a:off xmlns:a="http://schemas.openxmlformats.org/drawingml/2006/main" x="685800" y="4524375"/>
          <a:ext xmlns:a="http://schemas.openxmlformats.org/drawingml/2006/main" cx="108204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581400"/>
              </a:tblGrid>
              <a:tr h="476250">
                <a:tc>
                  <a:txBody>
                    <a:bodyPr lIns="133350" tIns="76200" rIns="1143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476250"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회전·좌우 반전 방향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 /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펼친 손가락 개수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 /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B3CF5-BF98-42EB-80D2-B79BBB1A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제공된 정지 이미지로 검증했습니다. 실제 웹캠의 조명·흔들림 검증은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655280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47F38-9B60-4CA9-B1F1-0D4885FA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도구 호출과 코드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B1ABE-DC9A-4507-BE43-7E0C0830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C373D-71EF-4B6B-A86E-741B8F6B4C79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코드가 보장하는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R1·R2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이름, 네 방향, 1~10칸 정수 보정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질문·이전 질문·손의 방향 근거가 없으면 되묻기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ask일 때만 추가 정보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방향만 답해도 이전에 요청한 칸 수로 이동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FEA38-8440-4EA0-8DEE-9D7605D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API 64/64 통과 · 규칙 회귀 검사 17/17 통과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B331C-C2F7-444C-91A4-81B9A651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추가 수정: “가위”의 방향 오인 방지, LLM이 describe로 오분류한 방향 답변 처리</a:t>
            </a:r>
          </a:p>
        </p:txBody>
      </p:sp>
    </p:spTree>
    <p:extLst>
      <p:ext uri="{BB962C8B-B14F-4D97-AF65-F5344CB8AC3E}">
        <p14:creationId xmlns:p14="http://schemas.microsoft.com/office/powerpoint/2010/main" val="15301281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14F2D-E247-4688-9C09-AE8A82F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되묻기 후 이동과 시뮬레이터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B9B21-CED2-4E42-A968-79268AFF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CFAFC-A6A5-4AAA-9D7D-51EE55002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b5e5e94f243c1"/>
          <a:stretch xmlns:a="http://schemas.openxmlformats.org/drawingml/2006/main"/>
        </p:blipFill>
        <p:spPr>
          <a:xfrm xmlns:a="http://schemas.openxmlformats.org/drawingml/2006/main">
            <a:off x="1085850" y="1285875"/>
            <a:ext cx="777240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9CF20-7C4B-420B-A190-76F94A3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66875"/>
            <a:ext cx="228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“저쪽으로 2칸 가”</a:t>
            </a:r>
          </a:p>
          <a:p xmlns:a="http://schemas.openxmlformats.org/drawingml/2006/main">
            <a: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방향을 되묻기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방향만 답변</a:t>
            </a:r>
          </a:p>
          <a:p xmlns:a="http://schemas.openxmlformats.org/drawingml/2006/main">
            <a:pPr>
              <a:buNone/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기억한 2칸 이동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ABB6A-C049-44C5-A29E-D4776760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실제 좌표: 시작 (1,1), 방향 답변 후 (3,1), 위 이동 후 (1,1)</a:t>
            </a:r>
          </a:p>
        </p:txBody>
      </p:sp>
    </p:spTree>
    <p:extLst>
      <p:ext uri="{BB962C8B-B14F-4D97-AF65-F5344CB8AC3E}">
        <p14:creationId xmlns:p14="http://schemas.microsoft.com/office/powerpoint/2010/main" val="8368920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618A2-9E38-4AD5-894D-BFE50621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인식 기록을 데이터 파이프라인으로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A0121-8389-4803-A5AE-298C3F87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3A7C-C20E-47C0-8146-6776021104F3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단계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보관할 데이터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전송 JPEG와 SHA-256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박스·confidence, VLM 문장, 손 방향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질문, 대화 기록, 선택한 tool과 args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데이터셋 버전, 모델 파일, 평가 CSV, 이동 로그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319F-932F-4634-B564-D8083C2C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같은 입력을 다시 재생하고 모델·데이터 버전별 결과를 비교</a:t>
            </a:r>
          </a:p>
        </p:txBody>
      </p:sp>
    </p:spTree>
    <p:extLst>
      <p:ext uri="{BB962C8B-B14F-4D97-AF65-F5344CB8AC3E}">
        <p14:creationId xmlns:p14="http://schemas.microsoft.com/office/powerpoint/2010/main" val="21381911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D63FB-4324-4DF4-9547-BC49AF76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현재 범위와 SmartThings 확장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7B8FD-0F2A-4AF7-9F15-580F2BA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091A4-3ECD-4BDD-B9CC-EF0D68E8A7C0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72400"/>
              </a:tblGrid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기능·F206·VLM 최적화·test 평가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실물 검증 필요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웹캠 환경, 집 안 촬영·추가 라벨링, 실제 주행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SmartThings 후속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인증된 기기의 상태 조회와 명령 실행 결과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95A55-B474-4BCB-B8F1-9E2993E7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가구 검출만으로 안전한 이동 경로나 가전 상태를 판단하지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558DD-8465-49E0-A0EE-1CA11AF2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Ballie는 참고 콘셉트입니다. 심화 기능의 구현·미검증 항목은 제출 기록에 구분했습니다.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39524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2026-10-22T02:11:01.6360000Z</dcterms:created>
  <dcterms:modified xsi:type="dcterms:W3CDTF">2026-10-22T02:11:01.6360000Z</dcterms:modified>
</coreProperties>
</file>