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67ed7b66e04066" /><Relationship Type="http://schemas.openxmlformats.org/officeDocument/2006/relationships/extended-properties" Target="/docProps/app.xml" Id="Rcd7dcbf2f97f4fd4" /><Relationship Type="http://schemas.openxmlformats.org/officeDocument/2006/relationships/officeDocument" Target="/ppt/presentation.xml" Id="Ra05b14578b0142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d25986f9e34074"/>
  </p:sldMasterIdLst>
  <p:notesMasterIdLst>
    <p:notesMasterId xmlns:r="http://schemas.openxmlformats.org/officeDocument/2006/relationships" r:id="R276e78bae8cb431f"/>
  </p:notesMasterIdLst>
  <p:sldIdLst>
    <p:sldId xmlns:r="http://schemas.openxmlformats.org/officeDocument/2006/relationships" id="256" r:id="R9ab20001a943417c"/>
    <p:sldId xmlns:r="http://schemas.openxmlformats.org/officeDocument/2006/relationships" id="257" r:id="R258ae55a4eae45df"/>
    <p:sldId xmlns:r="http://schemas.openxmlformats.org/officeDocument/2006/relationships" id="258" r:id="R9be69bdf1e8f41d0"/>
    <p:sldId xmlns:r="http://schemas.openxmlformats.org/officeDocument/2006/relationships" id="259" r:id="R779ae7bf4a0c427c"/>
    <p:sldId xmlns:r="http://schemas.openxmlformats.org/officeDocument/2006/relationships" id="260" r:id="R343e185fafd04ab7"/>
    <p:sldId xmlns:r="http://schemas.openxmlformats.org/officeDocument/2006/relationships" id="261" r:id="Rd8d3d9925df14de7"/>
    <p:sldId xmlns:r="http://schemas.openxmlformats.org/officeDocument/2006/relationships" id="262" r:id="R0f0b4d322b5c4f90"/>
    <p:sldId xmlns:r="http://schemas.openxmlformats.org/officeDocument/2006/relationships" id="263" r:id="R71fc3e0a79f84975"/>
    <p:sldId xmlns:r="http://schemas.openxmlformats.org/officeDocument/2006/relationships" id="264" r:id="Rde6ed5fca4134923"/>
    <p:sldId xmlns:r="http://schemas.openxmlformats.org/officeDocument/2006/relationships" id="265" r:id="Re0a2ffd4f00b4cbe"/>
    <p:sldId xmlns:r="http://schemas.openxmlformats.org/officeDocument/2006/relationships" id="266" r:id="R704764b6b91e449e"/>
    <p:sldId xmlns:r="http://schemas.openxmlformats.org/officeDocument/2006/relationships" id="267" r:id="R662c233faebf4898"/>
    <p:sldId xmlns:r="http://schemas.openxmlformats.org/officeDocument/2006/relationships" id="268" r:id="R52525d10098e4b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30ee92413f4a97" /><Relationship Type="http://schemas.openxmlformats.org/officeDocument/2006/relationships/slideMaster" Target="/ppt/slideMasters/slideMaster1.xml" Id="R23d25986f9e34074" /><Relationship Type="http://schemas.openxmlformats.org/officeDocument/2006/relationships/notesMaster" Target="/ppt/notesMasters/notesMaster1.xml" Id="R276e78bae8cb431f" /><Relationship Type="http://schemas.openxmlformats.org/officeDocument/2006/relationships/presProps" Target="/ppt/presProps.xml" Id="R55d4d40fe74b4caf" /><Relationship Type="http://schemas.openxmlformats.org/officeDocument/2006/relationships/tableStyles" Target="/ppt/tableStyles.xml" Id="Reaf534a44e484f36" /><Relationship Type="http://schemas.openxmlformats.org/officeDocument/2006/relationships/slide" Target="/ppt/slides/slide1.xml" Id="R9ab20001a943417c" /><Relationship Type="http://schemas.openxmlformats.org/officeDocument/2006/relationships/slide" Target="/ppt/slides/slide2.xml" Id="R258ae55a4eae45df" /><Relationship Type="http://schemas.openxmlformats.org/officeDocument/2006/relationships/slide" Target="/ppt/slides/slide3.xml" Id="R9be69bdf1e8f41d0" /><Relationship Type="http://schemas.openxmlformats.org/officeDocument/2006/relationships/slide" Target="/ppt/slides/slide4.xml" Id="R779ae7bf4a0c427c" /><Relationship Type="http://schemas.openxmlformats.org/officeDocument/2006/relationships/slide" Target="/ppt/slides/slide5.xml" Id="R343e185fafd04ab7" /><Relationship Type="http://schemas.openxmlformats.org/officeDocument/2006/relationships/slide" Target="/ppt/slides/slide6.xml" Id="Rd8d3d9925df14de7" /><Relationship Type="http://schemas.openxmlformats.org/officeDocument/2006/relationships/slide" Target="/ppt/slides/slide7.xml" Id="R0f0b4d322b5c4f90" /><Relationship Type="http://schemas.openxmlformats.org/officeDocument/2006/relationships/slide" Target="/ppt/slides/slide8.xml" Id="R71fc3e0a79f84975" /><Relationship Type="http://schemas.openxmlformats.org/officeDocument/2006/relationships/slide" Target="/ppt/slides/slide9.xml" Id="Rde6ed5fca4134923" /><Relationship Type="http://schemas.openxmlformats.org/officeDocument/2006/relationships/slide" Target="/ppt/slides/slide10.xml" Id="Re0a2ffd4f00b4cbe" /><Relationship Type="http://schemas.openxmlformats.org/officeDocument/2006/relationships/slide" Target="/ppt/slides/slide11.xml" Id="R704764b6b91e449e" /><Relationship Type="http://schemas.openxmlformats.org/officeDocument/2006/relationships/slide" Target="/ppt/slides/slide12.xml" Id="R662c233faebf4898" /><Relationship Type="http://schemas.openxmlformats.org/officeDocument/2006/relationships/slide" Target="/ppt/slides/slide13.xml" Id="R52525d10098e4b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ecd8f7bacb42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9800f756104359" /><Relationship Type="http://schemas.openxmlformats.org/officeDocument/2006/relationships/notesMaster" Target="/ppt/notesMasters/notesMaster1.xml" Id="R291ae05ddc5843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d95788981c437e" /><Relationship Type="http://schemas.openxmlformats.org/officeDocument/2006/relationships/notesMaster" Target="/ppt/notesMasters/notesMaster1.xml" Id="R1ebb2dc2bc8342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bc21362bb44ad5" /><Relationship Type="http://schemas.openxmlformats.org/officeDocument/2006/relationships/notesMaster" Target="/ppt/notesMasters/notesMaster1.xml" Id="R8a9a258d442645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6ccdf3722c437c" /><Relationship Type="http://schemas.openxmlformats.org/officeDocument/2006/relationships/notesMaster" Target="/ppt/notesMasters/notesMaster1.xml" Id="Ra4aadbda423b46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b3701017a04ad7" /><Relationship Type="http://schemas.openxmlformats.org/officeDocument/2006/relationships/notesMaster" Target="/ppt/notesMasters/notesMaster1.xml" Id="R3149bbbf3c6b46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9b0cab8ed74eb8" /><Relationship Type="http://schemas.openxmlformats.org/officeDocument/2006/relationships/notesMaster" Target="/ppt/notesMasters/notesMaster1.xml" Id="Ree7d316cdc1b4e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87b78d676d433d" /><Relationship Type="http://schemas.openxmlformats.org/officeDocument/2006/relationships/notesMaster" Target="/ppt/notesMasters/notesMaster1.xml" Id="Rdbc9314732e34f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ed811fbeb245d6" /><Relationship Type="http://schemas.openxmlformats.org/officeDocument/2006/relationships/notesMaster" Target="/ppt/notesMasters/notesMaster1.xml" Id="R0b6815219a4247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1aa4c2265e46c9" /><Relationship Type="http://schemas.openxmlformats.org/officeDocument/2006/relationships/notesMaster" Target="/ppt/notesMasters/notesMaster1.xml" Id="R9781d8a17d1047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82024ac9ae47b3" /><Relationship Type="http://schemas.openxmlformats.org/officeDocument/2006/relationships/notesMaster" Target="/ppt/notesMasters/notesMaster1.xml" Id="Rad89ee7ef78249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3e37d4e8df4a9d" /><Relationship Type="http://schemas.openxmlformats.org/officeDocument/2006/relationships/notesMaster" Target="/ppt/notesMasters/notesMaster1.xml" Id="R7307d16b9f3b49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57ccc3c98b49dd" /><Relationship Type="http://schemas.openxmlformats.org/officeDocument/2006/relationships/notesMaster" Target="/ppt/notesMasters/notesMaster1.xml" Id="Rca1b8f60dfd847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e489025dac429c" /><Relationship Type="http://schemas.openxmlformats.org/officeDocument/2006/relationships/notesMaster" Target="/ppt/notesMasters/notesMaster1.xml" Id="Rb9f9d2e8396e40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제출자: 광주 5반 임나경. 2026-10-22. 명세서 16-C-2-01, 02, 03의 필수 기능을 순서대로 구현·검증한 결과. Ballie 및 SmartThings는 참고 콘셉트다. 실제 로봇·가전은 연결하지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Samsung 2025-04-09 Ballie announcement https://news.samsung.com/us/samsung-google-cloud-expand-partnership-bring-gemini-ballie-home-ai-companion-robot-by-samsung/ ; SmartThings device model https://developer.smartthings.com/docs/service-integrations/query-and-list-devices . Historical concept, not a claim of current Ballie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https://docs.ultralytics.com/models/yolo11/ ; https://docs.ultralytics.com/models/yolov8/ ; https://www.ultralytics.com/license ; https://huggingface.co/ggml-org/Qwen2.5-VL-3B-Instruct-GGUF ; https://huggingface.co/Qwen/Qwen2.5-VL-7B-Instruct . Official detector numbers refer to 640px COCO/CPU ONNX. Alternative VLM 7B was not measured locally. YOLO license reference AGPL-3.0 or Enterprise; GGUF model card Apache-2.0.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datasets/roboflow/furniture/v2_curated_v2/derivation.json and results/furniture_day1/data_audit/independent_verification.json. All 689 thumbnails reviewed, 125 originals additionally reviewed. Assistant visual screening is not exhaustive ground-truth certification. Raw source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results/spec_workflow_20261022/spec1/finetune_compare.csv and *_metrics.json. 10 epochs, imgsz320, batch8, CPU. Same85 valid images, same custom evaluator and confidence/IoU settings. COCO chair56,couch57,dining table60 mapped to Furniture0,1,2. Broad Table and dining table are not identical semantic coverage. P/R are macro averages at conf.25 and IoU.5, mAP uses confidence floor.001. This is a small curated mainly-single-object dataset, not production room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results/spec_workflow_20261022/spec1/poc_timing.csv and measurement.csv. One warm-up pair excluded, one sequential/parallel pair on same sofa JPEG. VLM max-side448,max_tokens80. This small timing sample does not support a statistically significant speedup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results/spec_workflow_20261022/spec1/vlm_prompt_comparison.json and vlm_measurement.csv. All four prompts same448px input, temperature0,max_tokens96. Free output hits token limit; counting repeats objects/mixes scripts; obstacle-only request echoes instruction. Regulated runs use main.py contract and both equal. Obstacle text is model output, not an independently verified safety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actual browser screenshot results/spec_workflow_20261022/spec1/turn_1.png and spec3/browser_validation.json. Camera unavailable; user-selected local image is captured once and shared by all perception paths. Screenshot shows actual model outputs; pillow or other statements are not promoted to ground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results/spec_workflow_20261022/spec2/gesture_validation.json. Supplied pointing_up/victory images at0,90,180,270 degrees, each with mirror false/true. 16 direction and16 finger count assertions pass,21landmarks observed. Not three personal live-capture images required by optional F205.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API_설계.md, main.py, scripts/spec3_rules_validate.py, results/spec_workflow_20261022/spec3/rule_regressions.json. Final API suite64/64.17 regression assertions verify R5 with all valid LLM tool choices, new scene questions remain describe, false direction words, overflow-safe steps, malformed JSON and preserving obstacle suffix.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results/spec_workflow_20261022/spec3/browser_validation.json and simulator.png. Actual Edge run: ask remembers2 steps, direction-only reply invokes move; wall/boundary result independently computed from observed DOM wall map and compared to actual position. Grid movement is not physical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actual captured JPEG requests plus spec3/browser_validation.json, dataset split_manifest.json and spec1 CSV/JSON files. Workflow event records are derived from actual browser exchanges. A database or production streaming platform has not been deployed.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https://developer.smartthings.com/docs/service-integrations/query-and-list-devices and https://developer.smartthings.com/docs/service-integrations/control-devices . SmartThings authorized status/command APIs are future work. No device writes or Ballie hardware integration were performed. Optional F105 camera-built dataset, F106 controlled three-setting comparison, F205 personal captures, F206 source-count conflict logic and F305 live gesture sequence remain unverified or unimplemented, as detailed in completion.json.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d37a6af964c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02b4ce5fc4c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70e5c502f4a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5853d0c8746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7bf128f3745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1c6c8ef9e4d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52CA36-66D8-4869-BB40-7426AE1DE2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91477B-E94C-42E5-B970-7ACE770268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64E02F-56D1-4EE0-98CC-BB47E34FE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53AFC4-5A26-4D43-BA2A-1685EE7A0F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0C29DB-978C-4A43-97F9-6B111DA8FB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7FFD6D-3C3C-491D-87B7-4CFF4ACF1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9EB0FB-F0B5-43E6-9C51-852E7C334F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3AC0C5-EA59-44DC-BBD1-2268ED986F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5E236D-4A2E-4DDA-B652-EC066ECC6F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1FE0F5-75E1-49DC-AD63-9193BF3953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89b115403a491c" /><Relationship Type="http://schemas.openxmlformats.org/officeDocument/2006/relationships/slideLayout" Target="/ppt/slideLayouts/slideLayout1.xml" Id="R18f775419de54aa5" /><Relationship Type="http://schemas.openxmlformats.org/officeDocument/2006/relationships/slideLayout" Target="/ppt/slideLayouts/slideLayout2.xml" Id="Rc1f514ae411244f1" /><Relationship Type="http://schemas.openxmlformats.org/officeDocument/2006/relationships/slideLayout" Target="/ppt/slideLayouts/slideLayout3.xml" Id="R35d1df1a159045a9" /><Relationship Type="http://schemas.openxmlformats.org/officeDocument/2006/relationships/slideLayout" Target="/ppt/slideLayouts/slideLayout4.xml" Id="R44c2dc596f174c34" /><Relationship Type="http://schemas.openxmlformats.org/officeDocument/2006/relationships/slideLayout" Target="/ppt/slideLayouts/slideLayout5.xml" Id="Raa0ca4af2261434d" /><Relationship Type="http://schemas.openxmlformats.org/officeDocument/2006/relationships/slideLayout" Target="/ppt/slideLayouts/slideLayout6.xml" Id="Rf3ffa48968b14a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f775419de54aa5"/>
    <p:sldLayoutId xmlns:r="http://schemas.openxmlformats.org/officeDocument/2006/relationships" id="2147483650" r:id="Rc1f514ae411244f1"/>
    <p:sldLayoutId xmlns:r="http://schemas.openxmlformats.org/officeDocument/2006/relationships" id="2147483651" r:id="R35d1df1a159045a9"/>
    <p:sldLayoutId xmlns:r="http://schemas.openxmlformats.org/officeDocument/2006/relationships" id="2147483652" r:id="R44c2dc596f174c34"/>
    <p:sldLayoutId xmlns:r="http://schemas.openxmlformats.org/officeDocument/2006/relationships" id="2147483653" r:id="Raa0ca4af2261434d"/>
    <p:sldLayoutId xmlns:r="http://schemas.openxmlformats.org/officeDocument/2006/relationships" id="2147483654" r:id="Rf3ffa48968b14a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4a6027c2264e6a" /><Relationship Type="http://schemas.openxmlformats.org/officeDocument/2006/relationships/notesSlide" Target="/ppt/notesSlides/notesSlide1.xml" Id="R9b5ab63ed5334d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b513a0c0b4ca5" /><Relationship Type="http://schemas.openxmlformats.org/officeDocument/2006/relationships/notesSlide" Target="/ppt/notesSlides/notesSlide2.xml" Id="R5d91bdac1c22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5be3197c44982" /><Relationship Type="http://schemas.openxmlformats.org/officeDocument/2006/relationships/notesSlide" Target="/ppt/notesSlides/notesSlide3.xml" Id="R09dba186c4ef4a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c5f649c894367" /><Relationship Type="http://schemas.openxmlformats.org/officeDocument/2006/relationships/notesSlide" Target="/ppt/notesSlides/notesSlide4.xml" Id="Rbc28050e8b7040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48c6c5c9f4a50" /><Relationship Type="http://schemas.openxmlformats.org/officeDocument/2006/relationships/notesSlide" Target="/ppt/notesSlides/notesSlide5.xml" Id="R542983ac67274f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845438dd4347aa" /><Relationship Type="http://schemas.openxmlformats.org/officeDocument/2006/relationships/image" Target="/ppt/media/image.jpeg" Id="R8ede61ac596e41eb" /><Relationship Type="http://schemas.openxmlformats.org/officeDocument/2006/relationships/notesSlide" Target="/ppt/notesSlides/notesSlide6.xml" Id="Re86b4bf3509042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deaa0e0c94972" /><Relationship Type="http://schemas.openxmlformats.org/officeDocument/2006/relationships/notesSlide" Target="/ppt/notesSlides/notesSlide7.xml" Id="R66427950f72c4e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ca31f30e2440c" /><Relationship Type="http://schemas.openxmlformats.org/officeDocument/2006/relationships/image" Target="/ppt/media/image.png" Id="R3c9f3924298c4a02" /><Relationship Type="http://schemas.openxmlformats.org/officeDocument/2006/relationships/notesSlide" Target="/ppt/notesSlides/notesSlide8.xml" Id="R10aa49e753054e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17aef00234960" /><Relationship Type="http://schemas.openxmlformats.org/officeDocument/2006/relationships/image" Target="/ppt/media/image2.png" Id="R793e065819724ef6" /><Relationship Type="http://schemas.openxmlformats.org/officeDocument/2006/relationships/notesSlide" Target="/ppt/notesSlides/notesSlide9.xml" Id="R7297cb68fe7d41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1f1667b78c412a" /><Relationship Type="http://schemas.openxmlformats.org/officeDocument/2006/relationships/notesSlide" Target="/ppt/notesSlides/notesSlide10.xml" Id="Rd6421d465c1949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abf26acf2b4282" /><Relationship Type="http://schemas.openxmlformats.org/officeDocument/2006/relationships/image" Target="/ppt/media/image3.png" Id="Rafd4fbccd068413d" /><Relationship Type="http://schemas.openxmlformats.org/officeDocument/2006/relationships/notesSlide" Target="/ppt/notesSlides/notesSlide11.xml" Id="Rb64132511bf442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4eace4c4048c6" /><Relationship Type="http://schemas.openxmlformats.org/officeDocument/2006/relationships/notesSlide" Target="/ppt/notesSlides/notesSlide12.xml" Id="Rcb8d425e8f7142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25afb49554ec9" /><Relationship Type="http://schemas.openxmlformats.org/officeDocument/2006/relationships/notesSlide" Target="/ppt/notesSlides/notesSlide13.xml" Id="R1ce20552759144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6B839-D5FD-4BF3-976B-3F15CE84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FD25E-35B3-4022-A37D-C42DD5D3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8AB95-C4A9-438A-8FF8-1CD35AF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가정용 집사 로봇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51F76-DF35-4D2A-BB9E-A9E7FDA7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멀티모달 AI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8B6A4-6E43-4C0C-8EEE-F63EC5C7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Furniture 인식 · 장면 설명 · 의도 파악과 이동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865EC-FC48-44FF-A8F4-0F8F1D6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명세서 1 · 2 · 3 수행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BF77F-E9D7-4E54-9B6B-FEC77DF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광주 5반 임나경</a:t>
            </a:r>
          </a:p>
          <a:p xmlns:a="http://schemas.openxmlformats.org/drawingml/2006/main">
            <a:pPr>
              <a:def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2026.10.22</a:t>
            </a:r>
          </a:p>
        </p:txBody>
      </p:sp>
    </p:spTree>
    <p:extLst>
      <p:ext uri="{BB962C8B-B14F-4D97-AF65-F5344CB8AC3E}">
        <p14:creationId xmlns:p14="http://schemas.microsoft.com/office/powerpoint/2010/main" val="823818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8F474-6315-43ED-BD1F-304FEB3E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집사형 로봇의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D64ED-DD50-45A7-9575-3F63724B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5B718-03CB-4E5D-B6FA-AEC41357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집 안의 상황을 보고 사용자의 요청에 답하는 로봇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6C702-0AD9-4699-818A-99B6CC02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인식</a:t>
            </a:r>
          </a:p>
          <a:p xmlns:a="http://schemas.openxmlformats.org/drawingml/2006/main">
            <a: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YOLO가 가구를 검출하고 VLM이 거실의 맥락을 설명합니다.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4A95D-901A-4343-B431-27ABE69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의도와 동작</a:t>
            </a:r>
          </a:p>
          <a:p xmlns:a="http://schemas.openxmlformats.org/drawingml/2006/main">
            <a: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LLM이 설명·이동·되묻기를 고르면 코드가 방향과 칸 수를 검증합니다.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2CA77-0FC8-49F0-8421-C3FEBE75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가전 연동 확장</a:t>
            </a:r>
          </a:p>
          <a:p xmlns:a="http://schemas.openxmlformats.org/drawingml/2006/main">
            <a:pPr>
              <a:def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SmartThings 상태 조회와 명령 API는 후속 연동 대상으로 설계합니다.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2B36E-6EF3-4EBB-8F18-CDC937BA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현재 동작 범위는 로컬 이미지와 격자 시뮬레이터입니다.</a:t>
            </a:r>
          </a:p>
        </p:txBody>
      </p:sp>
    </p:spTree>
    <p:extLst>
      <p:ext uri="{BB962C8B-B14F-4D97-AF65-F5344CB8AC3E}">
        <p14:creationId xmlns:p14="http://schemas.microsoft.com/office/powerpoint/2010/main" val="1780857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23527-E5BE-41A4-8A20-C5288B7A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모델 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D8793-9D77-4978-BC6F-9653D12D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91A8F-1D27-4B44-AA1D-E17D08B114EB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952750"/>
                <a:gridCol w="2724150"/>
              </a:tblGrid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검출 후보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COCO mAP50–95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CPU ONNX 참고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YOLOv8n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37.3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80.4 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YOLO11n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2.6M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56.1 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YOLO11s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9.4M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90.0 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D2344-DACF-4ED1-91C6-0BC552CC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YOLO11n: 작은 모델로 CPU 추론과 전이학습을 함께 수행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0D251-EB78-4907-AFF8-A30225E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VLM: Qwen2.5-VL-3B Q4_K_M + mmproj</a:t>
            </a:r>
          </a:p>
          <a:p xmlns:a="http://schemas.openxmlformats.org/drawingml/2006/main">
            <a: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3B를 CPU에서 검증했고, 7B는 로컬 미측정 후보로 남겼습니다.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78800-BB1B-449F-AB72-8614DCD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공식 참고 수치와 이 PC의 실측 속도는 측정 방식이 달라 직접 비교하지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55649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C7B6C-DD3D-4B93-AA7D-9718C195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Furniture 데이터 정비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9F729-54D8-46A3-809B-F353316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E2EC9-129D-48C0-B165-160174D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689장 중 565장 채택, 124장 추가 검수 대기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E6AFC-7A32-4F9F-8FB1-A671BEEAB117}"/>
              </a:ext>
            </a:extLst>
          </p:cNvPr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00250"/>
                <a:gridCol w="2000250"/>
                <a:gridCol w="2000250"/>
                <a:gridCol w="2152650"/>
              </a:tblGrid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Chair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Sofa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valid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42938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8A5DD-85BF-40C6-B577-5D5AF5EF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같은 가구·촬영 공간을 한 분할에 묶고 seed 20261021로 고정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AC9EF-A08C-493F-921B-A17AF7C3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원본 파일 해시 보존 · 알려진 그룹 겹침 0건 · test는 이번 학습·평가에서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1773834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B9A20-2CD4-40A1-9CE1-6F5882E4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파인튜닝 전후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D8E4B-8DD7-48DC-B5A0-E16E402A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47892-A26C-4ABF-8784-828F350862E2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933700"/>
                <a:gridCol w="2933700"/>
              </a:tblGrid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valid 85장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COCO 대응 모델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Furniture 10 epoch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mAP50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mAP50–95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Precision (conf 0.25)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93.5%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 (conf 0.25)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0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98.8%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3A338-E4F6-4080-BA84-BB407751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Chair·Sofa·Table로 클래스 번호를 명시적으로 대응시켜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C7F61-039A-4F7F-880F-42342222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선별된 단일 가구 사진의 검증 성능입니다. 복잡한 실내 장면과 실물 운용은 별도 검증이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7954475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F29D2-2379-4298-B290-34D0408C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PoC 응답 시간과 병목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1E325-5929-46EA-A58F-E639A00D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7DA41-A179-4F61-BF2A-E1ABD9DE05C4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619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476500"/>
              </a:tblGrid>
              <a:tr h="730250">
                <a:tc>
                  <a:txBody>
                    <a:bodyPr lIns="133350" tIns="76200" rIns="114300" bIns="7620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호출 방식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시간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730250">
                <a:tc>
                  <a:txBody>
                    <a:bodyPr lIns="133350" tIns="76200" rIns="114300" bIns="76200"/>
                    <a:lstStyle/>
                    <a:p>
                      <a:r>
                        <a:rPr sz="22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2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6.61초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lIns="133350" tIns="76200" rIns="114300" bIns="76200"/>
                    <a:lstStyle/>
                    <a:p>
                      <a:r>
                        <a:rPr sz="22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2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6.57초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44369-764B-4EB9-B303-3F539812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VLM이 전체 응답 시간의 대부분을 차지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C7EA9-C86D-468A-B6B0-C6221DD9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입력 긴 변 448px</a:t>
            </a:r>
          </a:p>
          <a:p xmlns:a="http://schemas.openxmlformats.org/drawingml/2006/main">
            <a: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출력 80 tokens 상한</a:t>
            </a:r>
          </a:p>
          <a:p xmlns:a="http://schemas.openxmlformats.org/drawingml/2006/main">
            <a: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워밍업 후 같은 이미지로 측정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0C136-7326-487D-B004-CBEA3D377B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e61ac596e41eb"/>
          <a:stretch xmlns:a="http://schemas.openxmlformats.org/drawingml/2006/main"/>
        </p:blipFill>
        <p:spPr>
          <a:xfrm xmlns:a="http://schemas.openxmlformats.org/drawingml/2006/main">
            <a:off x="6858000" y="1571625"/>
            <a:ext cx="447675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29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237D4-DBE2-4166-9FB5-3908B128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VLM 프롬프트와 출력 규격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C1528-0DA7-439E-92CB-64ADDB5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1A9D8-799F-4690-A68E-98A3124347B1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000250"/>
                <a:gridCol w="5391150"/>
              </a:tblGrid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프롬프트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실측 시간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자유 설명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14.87초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96 tokens에서 잘림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간결 설명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6.05초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장면을 한국어로 설명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개수 나열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6.04초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나열·한자 혼용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장애물만 질문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5.20초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87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질문을 되풀이함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E20EE-B6BA-4ED4-8C45-F815407A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규격 출력은 한국어 40자 이내와 장애물 표기를 검사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4B9C8-7806-45E5-A506-DE8521F8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거실에 흰색 패턴이 있는 소파가 놓여 있다, 장애물 없음.</a:t>
            </a:r>
          </a:p>
        </p:txBody>
      </p:sp>
    </p:spTree>
    <p:extLst>
      <p:ext uri="{BB962C8B-B14F-4D97-AF65-F5344CB8AC3E}">
        <p14:creationId xmlns:p14="http://schemas.microsoft.com/office/powerpoint/2010/main" val="2019110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A4C31-B8FF-4E63-86C8-B0F2AC68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이미지에서 LLM 답변까지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09744-D281-4C20-A4BF-A72C197A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E49E2-AF86-45F6-9C8A-B6AAAE80C4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f3924298c4a02"/>
          <a:stretch xmlns:a="http://schemas.openxmlformats.org/drawingml/2006/main"/>
        </p:blipFill>
        <p:spPr>
          <a:xfrm xmlns:a="http://schemas.openxmlformats.org/drawingml/2006/main">
            <a:off x="2286000" y="1285875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AA829-F5C1-4DC2-A522-9BD62EE5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예제·파일·웹캠 입력을 같은 처리 흐름으로 연결하고 출처별 결과를 따로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6759274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00064-698B-457F-83C9-2060D424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손 방향과 손가락 개수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A7A71-5019-4811-B734-A6C12644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CCFF2-2BD5-4236-A827-D59C67E109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e065819724ef6"/>
          <a:stretch xmlns:a="http://schemas.openxmlformats.org/drawingml/2006/main"/>
        </p:blipFill>
        <p:spPr>
          <a:xfrm xmlns:a="http://schemas.openxmlformats.org/drawingml/2006/main">
            <a:off x="685800" y="1457325"/>
            <a:ext cx="10820400" cy="27051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187DF-D021-4317-A240-3092FF61575F}"/>
              </a:ext>
            </a:extLst>
          </p:cNvPr>
          <p:cNvGraphicFramePr/>
          <p:nvPr/>
        </p:nvGraphicFramePr>
        <p:xfrm>
          <a:off xmlns:a="http://schemas.openxmlformats.org/drawingml/2006/main" x="685800" y="4524375"/>
          <a:ext xmlns:a="http://schemas.openxmlformats.org/drawingml/2006/main" cx="108204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0"/>
                <a:gridCol w="3581400"/>
              </a:tblGrid>
              <a:tr h="476250">
                <a:tc>
                  <a:txBody>
                    <a:bodyPr lIns="133350" tIns="76200" rIns="11430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476250">
                <a:tc>
                  <a:txBody>
                    <a:bodyPr lIns="133350" tIns="76200" rIns="114300" bIns="76200"/>
                    <a:lstStyle/>
                    <a:p>
                      <a:r>
                        <a:rPr sz="202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회전·좌우 반전 방향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02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 / 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33350" tIns="76200" rIns="114300" bIns="76200"/>
                    <a:lstStyle/>
                    <a:p>
                      <a:r>
                        <a:rPr sz="202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펼친 손가락 개수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2025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 / 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B3CF5-BF98-42EB-80D2-B79BBB1A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제공된 정지 이미지로 검증했습니다. 실제 웹캠의 조명·흔들림 검증은 남아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65528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47F38-9B60-4CA9-B1F1-0D4885FA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도구 호출과 코드 규칙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B1ABE-DC9A-4507-BE43-7E0C0830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121F6-4B1D-42CD-A404-B47DDE54435C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619125"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코드가 보장하는 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191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R1·R2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이름, 네 방향, 1~10칸 정수 보정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질문·이전 질문·손의 방향 근거가 없으면 되묻기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191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ask일 때만 추가 정보 요청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방향만 답해도 이전에 요청한 칸 수로 이동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FEA38-8440-4EA0-8DEE-9D7605D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API 64/64 통과 · 규칙 회귀 검사 17/17 통과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B331C-C2F7-444C-91A4-81B9A651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추가 수정: “가위”의 방향 오인 방지, LLM이 describe로 오분류한 방향 답변 처리</a:t>
            </a:r>
          </a:p>
        </p:txBody>
      </p:sp>
    </p:spTree>
    <p:extLst>
      <p:ext uri="{BB962C8B-B14F-4D97-AF65-F5344CB8AC3E}">
        <p14:creationId xmlns:p14="http://schemas.microsoft.com/office/powerpoint/2010/main" val="15301281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14F2D-E247-4688-9C09-AE8A82FE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되묻기 후 이동과 시뮬레이터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B9B21-CED2-4E42-A968-79268AFF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D4A2D-9AE6-4667-9E33-0513BB48A6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4fbccd068413d"/>
          <a:stretch xmlns:a="http://schemas.openxmlformats.org/drawingml/2006/main"/>
        </p:blipFill>
        <p:spPr>
          <a:xfrm xmlns:a="http://schemas.openxmlformats.org/drawingml/2006/main">
            <a:off x="1085850" y="1285875"/>
            <a:ext cx="777240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9CF20-7C4B-420B-A190-76F94A33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66875"/>
            <a:ext cx="228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“저쪽으로 2칸 가”</a:t>
            </a:r>
          </a:p>
          <a:p xmlns:a="http://schemas.openxmlformats.org/drawingml/2006/main">
            <a: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방향을 되묻기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방향만 답변</a:t>
            </a:r>
          </a:p>
          <a:p xmlns:a="http://schemas.openxmlformats.org/drawingml/2006/main">
            <a:pPr>
              <a:def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기억한 2칸 이동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ABB6A-C049-44C5-A29E-D4776760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실제 좌표: 시작 (1,1), 방향 답변 후 (3,1), 위 이동 후 (1,1)</a:t>
            </a:r>
          </a:p>
        </p:txBody>
      </p:sp>
    </p:spTree>
    <p:extLst>
      <p:ext uri="{BB962C8B-B14F-4D97-AF65-F5344CB8AC3E}">
        <p14:creationId xmlns:p14="http://schemas.microsoft.com/office/powerpoint/2010/main" val="836892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618A2-9E38-4AD5-894D-BFE50621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인식 기록을 데이터 파이프라인으로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A0121-8389-4803-A5AE-298C3F87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2FB1D-18F1-4B94-9EA3-37482421590B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657225"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단계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보관할 데이터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572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전송 JPEG와 SHA-256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박스·confidence, VLM 문장, 손 방향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572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질문, 대화 기록, 선택한 tool과 args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데이터셋 버전, 모델 파일, 평가 CSV, 이동 로그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319F-932F-4634-B564-D8083C2C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같은 입력을 다시 재생하고 모델·데이터 버전별 결과를 비교</a:t>
            </a:r>
          </a:p>
        </p:txBody>
      </p:sp>
    </p:spTree>
    <p:extLst>
      <p:ext uri="{BB962C8B-B14F-4D97-AF65-F5344CB8AC3E}">
        <p14:creationId xmlns:p14="http://schemas.microsoft.com/office/powerpoint/2010/main" val="21381911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D63FB-4324-4DF4-9547-BC49AF76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B32"/>
                </a:solidFill>
                <a:latin typeface="Malgun Gothic"/>
                <a:ea typeface="Malgun Gothic"/>
                <a:cs typeface="Malgun Gothic"/>
              </a:rPr>
              <a:t>현재 범위와 SmartThings 확장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7B8FD-0F2A-4AF7-9F15-580F2BA2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87B3D-2DA7-447F-A22A-C0B0AD038CDE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72400"/>
              </a:tblGrid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T w="9525">
                      <a:solidFill>
                        <a:srgbClr val="D5DFDE"/>
                      </a:solidFill>
                      <a:prstDash val="solid"/>
                    </a:lnT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087F7D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명세서 1·2·3 필수 기능과 로컬 이미지 시연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실물 검증 필요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웹캠 환경, 집 안 촬영·추가 라벨링, 실제 주행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EDF2EF"/>
                    </a:solidFill>
                  </a:tcPr>
                </a:tc>
              </a:tr>
              <a:tr h="666750"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SmartThings 후속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DE"/>
                      </a:solidFill>
                      <a:prstDash val="solid"/>
                    </a:lnL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14300" bIns="76200"/>
                    <a:lstStyle/>
                    <a:p>
                      <a:r>
                        <a:rPr sz="1950" b="0">
                          <a:solidFill>
                            <a:srgbClr val="142B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인증된 기기의 상태 조회와 명령 실행 결과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DE"/>
                      </a:solidFill>
                      <a:prstDash val="solid"/>
                    </a:lnR>
                    <a:lnB w="9525">
                      <a:solidFill>
                        <a:srgbClr val="D5DF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95A55-B474-4BCB-B8F1-9E2993E7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87F7D"/>
                </a:solidFill>
                <a:latin typeface="Malgun Gothic"/>
                <a:ea typeface="Malgun Gothic"/>
                <a:cs typeface="Malgun Gothic"/>
              </a:rPr>
              <a:t>가구 검출만으로 안전한 이동 경로나 가전 상태를 판단하지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558DD-8465-49E0-A0EE-1CA11AF2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6B"/>
                </a:solidFill>
                <a:latin typeface="Malgun Gothic"/>
                <a:ea typeface="Malgun Gothic"/>
                <a:cs typeface="Malgun Gothic"/>
              </a:rPr>
              <a:t>Ballie는 참고 콘셉트입니다. 심화 기능의 구현·미검증 항목은 제출 기록에 구분했습니다.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639524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2026-10-22T00:44:56.8290000Z</dcterms:created>
  <dcterms:modified xsi:type="dcterms:W3CDTF">2026-10-22T00:44:56.8290000Z</dcterms:modified>
</coreProperties>
</file>